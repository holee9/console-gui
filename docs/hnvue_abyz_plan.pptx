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433" r:id="rId2"/>
    <p:sldId id="434" r:id="rId3"/>
    <p:sldId id="435" r:id="rId4"/>
  </p:sldIdLst>
  <p:sldSz cx="9144000" cy="6858000" type="screen4x3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BFBF"/>
    <a:srgbClr val="D0D8E8"/>
    <a:srgbClr val="E3E300"/>
    <a:srgbClr val="E9ED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43" autoAdjust="0"/>
    <p:restoredTop sz="96242" autoAdjust="0"/>
  </p:normalViewPr>
  <p:slideViewPr>
    <p:cSldViewPr>
      <p:cViewPr varScale="1">
        <p:scale>
          <a:sx n="139" d="100"/>
          <a:sy n="139" d="100"/>
        </p:scale>
        <p:origin x="744" y="10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0" d="100"/>
          <a:sy n="80" d="100"/>
        </p:scale>
        <p:origin x="-2622" y="-78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28F0C2-66E8-48BB-9DA2-FFEF1C401A50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6FDB97-6639-449D-8373-5CF5C540B8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483393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25E92-8150-413E-A687-9DBCDD7FA0F1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DD4772-E82C-471F-A4EA-22B8CCF08A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716437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 userDrawn="1"/>
        </p:nvSpPr>
        <p:spPr>
          <a:xfrm rot="3763650">
            <a:off x="-2370047" y="1082600"/>
            <a:ext cx="6647884" cy="5087210"/>
          </a:xfrm>
          <a:prstGeom prst="rect">
            <a:avLst/>
          </a:prstGeom>
          <a:blipFill dpi="0" rotWithShape="1">
            <a:blip r:embed="rId2">
              <a:alphaModFix amt="29000"/>
            </a:blip>
            <a:srcRect/>
            <a:stretch>
              <a:fillRect l="-4348" t="-276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64288" y="116632"/>
            <a:ext cx="1778245" cy="93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317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 rotWithShape="1">
          <a:blip r:embed="rId2"/>
          <a:srcRect r="88922"/>
          <a:stretch/>
        </p:blipFill>
        <p:spPr>
          <a:xfrm>
            <a:off x="0" y="0"/>
            <a:ext cx="720812" cy="6858000"/>
          </a:xfrm>
          <a:prstGeom prst="rect">
            <a:avLst/>
          </a:prstGeom>
        </p:spPr>
      </p:pic>
      <p:sp>
        <p:nvSpPr>
          <p:cNvPr id="8" name="직사각형 7"/>
          <p:cNvSpPr/>
          <p:nvPr userDrawn="1"/>
        </p:nvSpPr>
        <p:spPr>
          <a:xfrm>
            <a:off x="5508104" y="3429000"/>
            <a:ext cx="4104456" cy="3617227"/>
          </a:xfrm>
          <a:prstGeom prst="rect">
            <a:avLst/>
          </a:prstGeom>
          <a:blipFill dpi="0" rotWithShape="1">
            <a:blip r:embed="rId3">
              <a:alphaModFix amt="12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7305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/>
          <p:nvPr userDrawn="1"/>
        </p:nvCxnSpPr>
        <p:spPr>
          <a:xfrm>
            <a:off x="0" y="6453336"/>
            <a:ext cx="9144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20688"/>
          </a:xfrm>
          <a:prstGeom prst="rect">
            <a:avLst/>
          </a:prstGeom>
        </p:spPr>
      </p:pic>
      <p:sp>
        <p:nvSpPr>
          <p:cNvPr id="13" name="직사각형 12"/>
          <p:cNvSpPr/>
          <p:nvPr userDrawn="1"/>
        </p:nvSpPr>
        <p:spPr>
          <a:xfrm>
            <a:off x="5652120" y="3194316"/>
            <a:ext cx="4104456" cy="3617227"/>
          </a:xfrm>
          <a:prstGeom prst="rect">
            <a:avLst/>
          </a:prstGeom>
          <a:blipFill dpi="0" rotWithShape="1">
            <a:blip r:embed="rId3">
              <a:alphaModFix amt="12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A0AA4C-8B5A-8E4D-6058-5895FF873430}"/>
              </a:ext>
            </a:extLst>
          </p:cNvPr>
          <p:cNvSpPr txBox="1"/>
          <p:nvPr userDrawn="1"/>
        </p:nvSpPr>
        <p:spPr>
          <a:xfrm>
            <a:off x="6084168" y="6534544"/>
            <a:ext cx="41044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◎작성일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26.2.26</a:t>
            </a:r>
            <a:r>
              <a:rPr lang="ko-KR" altLang="en-US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◎작성부서</a:t>
            </a:r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Device</a:t>
            </a:r>
            <a:endParaRPr lang="ko-KR" alt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FAD08C-A4AF-F40C-CDF8-5D9DB98B380C}"/>
              </a:ext>
            </a:extLst>
          </p:cNvPr>
          <p:cNvSpPr txBox="1"/>
          <p:nvPr userDrawn="1"/>
        </p:nvSpPr>
        <p:spPr>
          <a:xfrm>
            <a:off x="7397160" y="168895"/>
            <a:ext cx="17278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dirty="0">
                <a:solidFill>
                  <a:srgbClr val="FF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&lt;confidential&gt;</a:t>
            </a:r>
            <a:endParaRPr lang="ko-KR" altLang="en-US" sz="1400" dirty="0">
              <a:solidFill>
                <a:srgbClr val="FF0000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51491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8083FA-F405-4324-9FFB-EDDBBC3A26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4499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8083FA-F405-4324-9FFB-EDDBBC3A26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9442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8083FA-F405-4324-9FFB-EDDBBC3A26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2074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8083FA-F405-4324-9FFB-EDDBBC3A26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6191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8083FA-F405-4324-9FFB-EDDBBC3A26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1728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8083FA-F405-4324-9FFB-EDDBBC3A26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3883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2556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49" r:id="rId2"/>
    <p:sldLayoutId id="2147483652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E6ED9-22A9-D3A3-3D4C-1565E2065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F52BDD1-53FC-38A6-82A6-FE76C14E22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146728"/>
            <a:ext cx="8388424" cy="508561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09B7184-692B-BC3B-B23E-B856B8A3175A}"/>
              </a:ext>
            </a:extLst>
          </p:cNvPr>
          <p:cNvSpPr txBox="1"/>
          <p:nvPr/>
        </p:nvSpPr>
        <p:spPr>
          <a:xfrm>
            <a:off x="395536" y="87015"/>
            <a:ext cx="5184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Console </a:t>
            </a:r>
            <a:r>
              <a:rPr lang="ko-KR" altLang="en-US" sz="2400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내재화</a:t>
            </a:r>
            <a:endParaRPr lang="en-US" altLang="ko-KR" sz="2400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718B47-4158-1D10-0821-EE74CF93C8B3}"/>
              </a:ext>
            </a:extLst>
          </p:cNvPr>
          <p:cNvSpPr txBox="1"/>
          <p:nvPr/>
        </p:nvSpPr>
        <p:spPr>
          <a:xfrm>
            <a:off x="391741" y="669454"/>
            <a:ext cx="7060579" cy="86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ko-KR" altLang="en-US" b="1" dirty="0"/>
              <a:t>▶ </a:t>
            </a:r>
            <a:r>
              <a:rPr lang="ko-KR" altLang="en-US" b="1" dirty="0" err="1"/>
              <a:t>휴이넘</a:t>
            </a:r>
            <a:r>
              <a:rPr lang="ko-KR" altLang="en-US" b="1" dirty="0"/>
              <a:t> </a:t>
            </a:r>
            <a:r>
              <a:rPr lang="en-US" altLang="ko-KR" b="1" dirty="0"/>
              <a:t>Console </a:t>
            </a:r>
            <a:r>
              <a:rPr lang="ko-KR" altLang="en-US" b="1" dirty="0"/>
              <a:t>구조 분석</a:t>
            </a:r>
            <a:br>
              <a:rPr lang="ko-KR" altLang="en-US" dirty="0"/>
            </a:br>
            <a:endParaRPr lang="ko-KR" altLang="en-US" dirty="0"/>
          </a:p>
        </p:txBody>
      </p:sp>
      <p:graphicFrame>
        <p:nvGraphicFramePr>
          <p:cNvPr id="11" name="개체 10">
            <a:extLst>
              <a:ext uri="{FF2B5EF4-FFF2-40B4-BE49-F238E27FC236}">
                <a16:creationId xmlns:a16="http://schemas.microsoft.com/office/drawing/2014/main" id="{B4DD38CF-7692-1409-7928-C9614B0616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2380781"/>
              </p:ext>
            </p:extLst>
          </p:nvPr>
        </p:nvGraphicFramePr>
        <p:xfrm>
          <a:off x="7515225" y="1501775"/>
          <a:ext cx="1076325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3" imgW="1076400" imgH="907200" progId="Package">
                  <p:embed/>
                </p:oleObj>
              </mc:Choice>
              <mc:Fallback>
                <p:oleObj name="포장기 셸 개체" showAsIcon="1" r:id="rId3" imgW="1076400" imgH="90720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515225" y="1501775"/>
                        <a:ext cx="1076325" cy="906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82378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E4121-08BA-D641-21FC-85B5B9A69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BAC82E-D02A-8B8A-9040-484F0CEF84C8}"/>
              </a:ext>
            </a:extLst>
          </p:cNvPr>
          <p:cNvSpPr txBox="1"/>
          <p:nvPr/>
        </p:nvSpPr>
        <p:spPr>
          <a:xfrm>
            <a:off x="395536" y="87015"/>
            <a:ext cx="5184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Console </a:t>
            </a:r>
            <a:r>
              <a:rPr lang="ko-KR" altLang="en-US" sz="2400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내재화</a:t>
            </a:r>
            <a:endParaRPr lang="en-US" altLang="ko-KR" sz="2400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D90F9F-EC63-30A8-DD80-6B68E2376BA1}"/>
              </a:ext>
            </a:extLst>
          </p:cNvPr>
          <p:cNvSpPr txBox="1"/>
          <p:nvPr/>
        </p:nvSpPr>
        <p:spPr>
          <a:xfrm>
            <a:off x="391741" y="669454"/>
            <a:ext cx="7060579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ko-KR" altLang="en-US" b="1" dirty="0"/>
              <a:t>▶ </a:t>
            </a:r>
            <a:r>
              <a:rPr lang="ko-KR" altLang="en-US" b="1" dirty="0" err="1"/>
              <a:t>휴이넘</a:t>
            </a:r>
            <a:r>
              <a:rPr lang="ko-KR" altLang="en-US" b="1" dirty="0"/>
              <a:t> </a:t>
            </a:r>
            <a:r>
              <a:rPr lang="en-US" altLang="ko-KR" b="1" dirty="0"/>
              <a:t>Console </a:t>
            </a:r>
            <a:r>
              <a:rPr lang="ko-KR" altLang="en-US" b="1" dirty="0"/>
              <a:t>구성요소</a:t>
            </a:r>
            <a:r>
              <a:rPr lang="en-US" altLang="ko-KR" b="1" dirty="0"/>
              <a:t>(</a:t>
            </a:r>
            <a:r>
              <a:rPr lang="en-US" altLang="ko-KR" b="1" err="1"/>
              <a:t>dll</a:t>
            </a:r>
            <a:r>
              <a:rPr lang="en-US" altLang="ko-KR" b="1"/>
              <a:t>)</a:t>
            </a:r>
            <a:endParaRPr lang="en-US" altLang="ko-KR" b="1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23C32DD-64A7-A2C6-C696-C04FD904E9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6004441"/>
              </p:ext>
            </p:extLst>
          </p:nvPr>
        </p:nvGraphicFramePr>
        <p:xfrm>
          <a:off x="211312" y="1225811"/>
          <a:ext cx="4392488" cy="4498708"/>
        </p:xfrm>
        <a:graphic>
          <a:graphicData uri="http://schemas.openxmlformats.org/drawingml/2006/table">
            <a:tbl>
              <a:tblPr/>
              <a:tblGrid>
                <a:gridCol w="1431626">
                  <a:extLst>
                    <a:ext uri="{9D8B030D-6E8A-4147-A177-3AD203B41FA5}">
                      <a16:colId xmlns:a16="http://schemas.microsoft.com/office/drawing/2014/main" val="2383213018"/>
                    </a:ext>
                  </a:extLst>
                </a:gridCol>
                <a:gridCol w="1232065">
                  <a:extLst>
                    <a:ext uri="{9D8B030D-6E8A-4147-A177-3AD203B41FA5}">
                      <a16:colId xmlns:a16="http://schemas.microsoft.com/office/drawing/2014/main" val="3373243469"/>
                    </a:ext>
                  </a:extLst>
                </a:gridCol>
                <a:gridCol w="746181">
                  <a:extLst>
                    <a:ext uri="{9D8B030D-6E8A-4147-A177-3AD203B41FA5}">
                      <a16:colId xmlns:a16="http://schemas.microsoft.com/office/drawing/2014/main" val="3013827188"/>
                    </a:ext>
                  </a:extLst>
                </a:gridCol>
                <a:gridCol w="982616">
                  <a:extLst>
                    <a:ext uri="{9D8B030D-6E8A-4147-A177-3AD203B41FA5}">
                      <a16:colId xmlns:a16="http://schemas.microsoft.com/office/drawing/2014/main" val="3788729333"/>
                    </a:ext>
                  </a:extLst>
                </a:gridCol>
              </a:tblGrid>
              <a:tr h="19778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DLL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용도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개발사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</a:t>
                      </a: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무료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3040937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BCrypt.Net.dll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Bcrypt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암호화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오픈소스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GitHub)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무료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MIT)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0577418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BouncyCastle.Cryptography.dll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RSA, AES, ECC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등 암호화 라이브러리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Bouncy Castle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무료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MIT/Apache)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165003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ClosedXML.dll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Excel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처리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Team ClosedXML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무료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MIT)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1694687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CommunityToolkit.HighPerformance.dll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Span/Memory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최적화 유틸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Microsoft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무료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MIT)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5058249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Dapper.dll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SQL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매핑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StackOverflow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무료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Apache 2.0)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1115444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DocumentFormat.OpenXml.dll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Word/Excel/PPT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조작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Microsoft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무료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0103285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DocumentFormat.OpenXml.Framework.dll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OpenXML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내부 프레임워크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종속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Microsoft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무료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237361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ExcelNumberFormat.dll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Excel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숫자 포맷 처리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오픈소스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무료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4080870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fo-dicom.core.dll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DICOM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처리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fo-dicom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팀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무료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MIT)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2809030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libcurl.dll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네트워크 통신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(http/ftp)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curl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프로젝트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무료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MIT-like)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9073805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LiveCharts.dll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데이터 시각화 차트 라이브러리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LiveCharts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팀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무료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7781149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LiveCharts.Wpf.dll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LiveChart WPF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지원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종속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LiveCharts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팀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무료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5736438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Newtonsoft.Json.dll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json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포맷 처리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James Newton-King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무료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MIT)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455083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OpenCvSharp.dll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영상 처리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C# Wrapping)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OpenCvSharp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팀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무료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BSD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기반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6758046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opencv_world452.dll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영상 처리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c++)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OpenCV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무료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BSD)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4208710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Serilog.dll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로그 기록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Serilog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팀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무료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Apache 2.0)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2655652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log4net.dll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로그 기록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Apache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무료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Apache 2.0)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5423219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PdfSharp.dll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PDF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작성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편집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PDFsharp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무료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MIT)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8973034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itextsharp.dll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PDF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작성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변환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iText Group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무료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(AGPL) +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상업 라이선스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1071986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SixLabors.Fonts.dll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텍스트 랜더링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폰트 처리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SixLabors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무료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MIT)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9488967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SQLitePCLRaw.dll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DB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연동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SQLitePCL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팀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무료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MIT)</a:t>
                      </a:r>
                    </a:p>
                  </a:txBody>
                  <a:tcPr marL="8990" marR="8990" marT="899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095064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405E9DDB-9AD9-C8E7-06A2-52C2F24C6F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5823634"/>
              </p:ext>
            </p:extLst>
          </p:nvPr>
        </p:nvGraphicFramePr>
        <p:xfrm>
          <a:off x="4756224" y="1225811"/>
          <a:ext cx="4176464" cy="4191000"/>
        </p:xfrm>
        <a:graphic>
          <a:graphicData uri="http://schemas.openxmlformats.org/drawingml/2006/table">
            <a:tbl>
              <a:tblPr/>
              <a:tblGrid>
                <a:gridCol w="1056146">
                  <a:extLst>
                    <a:ext uri="{9D8B030D-6E8A-4147-A177-3AD203B41FA5}">
                      <a16:colId xmlns:a16="http://schemas.microsoft.com/office/drawing/2014/main" val="573137383"/>
                    </a:ext>
                  </a:extLst>
                </a:gridCol>
                <a:gridCol w="1570290">
                  <a:extLst>
                    <a:ext uri="{9D8B030D-6E8A-4147-A177-3AD203B41FA5}">
                      <a16:colId xmlns:a16="http://schemas.microsoft.com/office/drawing/2014/main" val="1111818493"/>
                    </a:ext>
                  </a:extLst>
                </a:gridCol>
                <a:gridCol w="780079">
                  <a:extLst>
                    <a:ext uri="{9D8B030D-6E8A-4147-A177-3AD203B41FA5}">
                      <a16:colId xmlns:a16="http://schemas.microsoft.com/office/drawing/2014/main" val="4187502459"/>
                    </a:ext>
                  </a:extLst>
                </a:gridCol>
                <a:gridCol w="769949">
                  <a:extLst>
                    <a:ext uri="{9D8B030D-6E8A-4147-A177-3AD203B41FA5}">
                      <a16:colId xmlns:a16="http://schemas.microsoft.com/office/drawing/2014/main" val="3571764695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DLL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용도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</a:t>
                      </a:r>
                      <a:r>
                        <a:rPr lang="en-US" altLang="ko-KR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무료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087267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CDRAST.dll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DICOM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처리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불명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불명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97533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CPIGenerator.dll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CPI</a:t>
                      </a:r>
                      <a:r>
                        <a:rPr lang="ko-KR" alt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 장비 모듈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CPI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상업용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73689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DbHandler.dll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래퍼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불명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불명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091158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Dicom.Core.dll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DICOM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처리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불명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불명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318132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DicomCore.dll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DICOM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처리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불명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불명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47770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DICOMSCU.dll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DICOM Server class user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모듈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불명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불명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33989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ECOTRON.dll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ECOTRON </a:t>
                      </a:r>
                      <a:r>
                        <a:rPr lang="ko-KR" alt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 장비 모듈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ECOTRON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상업용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561256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HARDIMP.dll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추정 불가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불명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불명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837209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HnVUE.dll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HnVUE main dll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휴이넘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상업용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452976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ImageProcess.dll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휴이넘 영상 처리 모듈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추정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휴이넘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상업용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063356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ImageViewer.dll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휴이넘 영상 뷰어 모듈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추정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휴이넘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상업용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312812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Linux.Bluetooth.dll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플랫폼 연동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Xeno Innovations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무료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Apache 2.0)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07647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Lfbmpu.dll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bmp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코덱 모듈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LeadTools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 필요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08764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Lfcmpu.dll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압축 코덱 모듈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LeadTools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 필요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574899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Lftifu.dll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TIFF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코덱 모듈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LeadTools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 필요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796191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Rockey4SClass.dll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Rockey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래퍼 클래스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락키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Rockey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상업용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91006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Ry4S_x64.dll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Rockey 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드라이버 모듈 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락키</a:t>
                      </a: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Rockey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상업용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540142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Synics.dll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Synicsray</a:t>
                      </a:r>
                      <a:r>
                        <a:rPr lang="ko-KR" alt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 장비 모듈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Synicsray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상업용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849923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SynicsraySGX400_x64.dll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Synicsray</a:t>
                      </a:r>
                      <a:r>
                        <a:rPr lang="ko-KR" altLang="en-US" sz="700" b="0" i="0" u="none" strike="noStrike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 장비 모듈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Synicsray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상업용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80892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548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3397F-500A-8BEC-7962-DA2DE6856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C3CB85-8285-C9DC-134A-72D6A13353FE}"/>
              </a:ext>
            </a:extLst>
          </p:cNvPr>
          <p:cNvSpPr txBox="1"/>
          <p:nvPr/>
        </p:nvSpPr>
        <p:spPr>
          <a:xfrm>
            <a:off x="395536" y="87015"/>
            <a:ext cx="5184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Console </a:t>
            </a:r>
            <a:r>
              <a:rPr lang="ko-KR" altLang="en-US" sz="2400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내재화</a:t>
            </a:r>
            <a:endParaRPr lang="en-US" altLang="ko-KR" sz="2400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BB127D-CF94-A9EE-DD1D-25EFAED49DC6}"/>
              </a:ext>
            </a:extLst>
          </p:cNvPr>
          <p:cNvSpPr txBox="1"/>
          <p:nvPr/>
        </p:nvSpPr>
        <p:spPr>
          <a:xfrm>
            <a:off x="391741" y="669454"/>
            <a:ext cx="7060579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ko-KR" altLang="en-US" b="1"/>
              <a:t>▶주요 일정</a:t>
            </a:r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2A44CC8-81F4-FC51-CE38-B59BEF39C8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7242451"/>
              </p:ext>
            </p:extLst>
          </p:nvPr>
        </p:nvGraphicFramePr>
        <p:xfrm>
          <a:off x="467544" y="1266199"/>
          <a:ext cx="8270080" cy="24825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6184">
                  <a:extLst>
                    <a:ext uri="{9D8B030D-6E8A-4147-A177-3AD203B41FA5}">
                      <a16:colId xmlns:a16="http://schemas.microsoft.com/office/drawing/2014/main" val="2480338446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3190417806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1489800370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976842768"/>
                    </a:ext>
                  </a:extLst>
                </a:gridCol>
                <a:gridCol w="1645344">
                  <a:extLst>
                    <a:ext uri="{9D8B030D-6E8A-4147-A177-3AD203B41FA5}">
                      <a16:colId xmlns:a16="http://schemas.microsoft.com/office/drawing/2014/main" val="373630896"/>
                    </a:ext>
                  </a:extLst>
                </a:gridCol>
              </a:tblGrid>
              <a:tr h="226494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bg1"/>
                          </a:solidFill>
                        </a:rPr>
                        <a:t>항 목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70C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bg1"/>
                          </a:solidFill>
                        </a:rPr>
                        <a:t>2026</a:t>
                      </a:r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년</a:t>
                      </a:r>
                      <a:endParaRPr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8919699"/>
                  </a:ext>
                </a:extLst>
              </a:tr>
              <a:tr h="226494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1Q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2Q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3Q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</a:rPr>
                        <a:t>4Q</a:t>
                      </a:r>
                      <a:endParaRPr lang="ko-KR" altLang="en-US" sz="1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0075655"/>
                  </a:ext>
                </a:extLst>
              </a:tr>
              <a:tr h="452987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/>
                        <a:t>선행 분석</a:t>
                      </a:r>
                      <a:endParaRPr lang="en-US" altLang="ko-KR" sz="140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89078937"/>
                  </a:ext>
                </a:extLst>
              </a:tr>
              <a:tr h="452987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/>
                        <a:t>↳ 유관부서 협의</a:t>
                      </a:r>
                      <a:endParaRPr lang="en-US" altLang="ko-KR" sz="140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26750169"/>
                  </a:ext>
                </a:extLst>
              </a:tr>
              <a:tr h="452987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/>
                        <a:t>기능 개발</a:t>
                      </a:r>
                      <a:endParaRPr lang="ko-KR" altLang="en-US" sz="1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1615600"/>
                  </a:ext>
                </a:extLst>
              </a:tr>
              <a:tr h="452987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/>
                        <a:t>기능 평가</a:t>
                      </a:r>
                      <a:endParaRPr lang="ko-KR" altLang="en-US" sz="1400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4362024"/>
                  </a:ext>
                </a:extLst>
              </a:tr>
            </a:tbl>
          </a:graphicData>
        </a:graphic>
      </p:graphicFrame>
      <p:sp>
        <p:nvSpPr>
          <p:cNvPr id="5" name="화살표: 오각형 4">
            <a:extLst>
              <a:ext uri="{FF2B5EF4-FFF2-40B4-BE49-F238E27FC236}">
                <a16:creationId xmlns:a16="http://schemas.microsoft.com/office/drawing/2014/main" id="{A4AE276C-3C5F-EB99-AFCB-BFD8ECE47DDA}"/>
              </a:ext>
            </a:extLst>
          </p:cNvPr>
          <p:cNvSpPr/>
          <p:nvPr/>
        </p:nvSpPr>
        <p:spPr>
          <a:xfrm>
            <a:off x="2369188" y="1970034"/>
            <a:ext cx="1194700" cy="394794"/>
          </a:xfrm>
          <a:prstGeom prst="homePlat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/>
              <a:t>   ’26.1 ~ ’26.2</a:t>
            </a:r>
            <a:endParaRPr lang="ko-KR" altLang="en-US" sz="1400" b="1" dirty="0"/>
          </a:p>
        </p:txBody>
      </p:sp>
      <p:sp>
        <p:nvSpPr>
          <p:cNvPr id="6" name="화살표: 오각형 5">
            <a:extLst>
              <a:ext uri="{FF2B5EF4-FFF2-40B4-BE49-F238E27FC236}">
                <a16:creationId xmlns:a16="http://schemas.microsoft.com/office/drawing/2014/main" id="{B73BD4D8-BDF9-E3AE-3C6A-04D4600AD9B4}"/>
              </a:ext>
            </a:extLst>
          </p:cNvPr>
          <p:cNvSpPr/>
          <p:nvPr/>
        </p:nvSpPr>
        <p:spPr>
          <a:xfrm>
            <a:off x="3779912" y="2884802"/>
            <a:ext cx="3817017" cy="382195"/>
          </a:xfrm>
          <a:prstGeom prst="homePlat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/>
              <a:t>‘26.3 </a:t>
            </a:r>
            <a:r>
              <a:rPr lang="en-US" altLang="ko-KR" sz="1400" b="1" dirty="0"/>
              <a:t>~ </a:t>
            </a:r>
            <a:r>
              <a:rPr lang="en-US" altLang="ko-KR" sz="1400" b="1"/>
              <a:t>‘26.10</a:t>
            </a:r>
            <a:endParaRPr lang="ko-KR" altLang="en-US" sz="1400" b="1" dirty="0"/>
          </a:p>
        </p:txBody>
      </p:sp>
      <p:sp>
        <p:nvSpPr>
          <p:cNvPr id="7" name="화살표: 오각형 6">
            <a:extLst>
              <a:ext uri="{FF2B5EF4-FFF2-40B4-BE49-F238E27FC236}">
                <a16:creationId xmlns:a16="http://schemas.microsoft.com/office/drawing/2014/main" id="{63170A1F-B1F2-ED6A-A435-EF655E2E7BFA}"/>
              </a:ext>
            </a:extLst>
          </p:cNvPr>
          <p:cNvSpPr/>
          <p:nvPr/>
        </p:nvSpPr>
        <p:spPr>
          <a:xfrm>
            <a:off x="5393375" y="3332592"/>
            <a:ext cx="3298679" cy="386153"/>
          </a:xfrm>
          <a:prstGeom prst="homePlat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/>
              <a:t>‘26.7 ~ ’26.12</a:t>
            </a:r>
            <a:endParaRPr lang="ko-KR" altLang="en-US" sz="1400" b="1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6F4AE440-7569-9D29-C1E0-01D1FCC37892}"/>
              </a:ext>
            </a:extLst>
          </p:cNvPr>
          <p:cNvSpPr/>
          <p:nvPr/>
        </p:nvSpPr>
        <p:spPr>
          <a:xfrm>
            <a:off x="5298095" y="2782209"/>
            <a:ext cx="146264" cy="150177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A7F33A-3EA6-FEC9-EEC3-6C44F31C9A20}"/>
              </a:ext>
            </a:extLst>
          </p:cNvPr>
          <p:cNvSpPr txBox="1"/>
          <p:nvPr/>
        </p:nvSpPr>
        <p:spPr>
          <a:xfrm>
            <a:off x="5287827" y="2402344"/>
            <a:ext cx="839744" cy="4290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 marR="0" algn="ctr" defTabSz="914400" eaLnBrk="0" fontAlgn="auto" latinLnBrk="0" hangingPunc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tabLst/>
            </a:pPr>
            <a:r>
              <a:rPr lang="ko-KR" altLang="en-US" sz="1200" b="1" kern="0" dirty="0">
                <a:solidFill>
                  <a:schemeClr val="tx2">
                    <a:lumMod val="50000"/>
                  </a:schemeClr>
                </a:solidFill>
                <a:ea typeface="+mj-ea"/>
              </a:rPr>
              <a:t>중간보고</a:t>
            </a:r>
            <a:br>
              <a:rPr lang="en-US" altLang="ko-KR" sz="1200" b="1" kern="0">
                <a:solidFill>
                  <a:schemeClr val="tx2">
                    <a:lumMod val="50000"/>
                  </a:schemeClr>
                </a:solidFill>
                <a:ea typeface="+mj-ea"/>
              </a:rPr>
            </a:br>
            <a:r>
              <a:rPr lang="en-US" altLang="ko-KR" sz="1200" b="1" kern="0">
                <a:solidFill>
                  <a:schemeClr val="tx2">
                    <a:lumMod val="50000"/>
                  </a:schemeClr>
                </a:solidFill>
                <a:ea typeface="+mj-ea"/>
              </a:rPr>
              <a:t>(5/30)</a:t>
            </a:r>
            <a:endParaRPr lang="en-US" altLang="ko-KR" sz="1200" b="1" kern="0" dirty="0">
              <a:solidFill>
                <a:schemeClr val="tx2">
                  <a:lumMod val="50000"/>
                </a:schemeClr>
              </a:solidFill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DC8BF3-3CB1-9129-42B2-171491EBB5F0}"/>
              </a:ext>
            </a:extLst>
          </p:cNvPr>
          <p:cNvSpPr txBox="1"/>
          <p:nvPr/>
        </p:nvSpPr>
        <p:spPr>
          <a:xfrm>
            <a:off x="418534" y="4265569"/>
            <a:ext cx="5881658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&lt;</a:t>
            </a:r>
            <a:r>
              <a:rPr lang="ko-KR" altLang="en-US" sz="2000" b="1"/>
              <a:t>주요사항</a:t>
            </a:r>
            <a:r>
              <a:rPr lang="en-US" altLang="ko-KR" sz="2000" b="1"/>
              <a:t>&gt;</a:t>
            </a:r>
            <a:endParaRPr lang="en-US" altLang="ko-KR" sz="2000" b="1" dirty="0"/>
          </a:p>
          <a:p>
            <a:pPr marL="285750" indent="-285750">
              <a:buFontTx/>
              <a:buChar char="-"/>
            </a:pPr>
            <a:r>
              <a:rPr lang="en-US" altLang="ko-KR"/>
              <a:t>CyberSecurity</a:t>
            </a:r>
            <a:r>
              <a:rPr lang="ko-KR" altLang="en-US"/>
              <a:t> 등 인증 계획 수립 필요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en-US" altLang="ko-KR"/>
              <a:t>3Q</a:t>
            </a:r>
            <a:r>
              <a:rPr lang="ko-KR" altLang="en-US"/>
              <a:t>부터는 개발과 평가 병행</a:t>
            </a:r>
            <a:endParaRPr lang="en-US" altLang="ko-KR"/>
          </a:p>
          <a:p>
            <a:pPr marL="285750" indent="-285750">
              <a:buFontTx/>
              <a:buChar char="-"/>
            </a:pPr>
            <a:endParaRPr lang="en-US" altLang="ko-KR" dirty="0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51AEE69-94D1-0D23-4048-C1305F76F05B}"/>
              </a:ext>
            </a:extLst>
          </p:cNvPr>
          <p:cNvCxnSpPr>
            <a:cxnSpLocks/>
          </p:cNvCxnSpPr>
          <p:nvPr/>
        </p:nvCxnSpPr>
        <p:spPr>
          <a:xfrm>
            <a:off x="3563888" y="1628800"/>
            <a:ext cx="0" cy="2119907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화살표: 오각형 20">
            <a:extLst>
              <a:ext uri="{FF2B5EF4-FFF2-40B4-BE49-F238E27FC236}">
                <a16:creationId xmlns:a16="http://schemas.microsoft.com/office/drawing/2014/main" id="{2D189FC5-D691-BC7E-651C-4DBCD0239DBB}"/>
              </a:ext>
            </a:extLst>
          </p:cNvPr>
          <p:cNvSpPr/>
          <p:nvPr/>
        </p:nvSpPr>
        <p:spPr>
          <a:xfrm>
            <a:off x="3589798" y="2426568"/>
            <a:ext cx="172905" cy="394794"/>
          </a:xfrm>
          <a:prstGeom prst="homePlat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b="1"/>
              <a:t>   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8052914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8819</TotalTime>
  <Words>552</Words>
  <Application>Microsoft Office PowerPoint</Application>
  <PresentationFormat>화면 슬라이드 쇼(4:3)</PresentationFormat>
  <Paragraphs>192</Paragraphs>
  <Slides>3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HY헤드라인M</vt:lpstr>
      <vt:lpstr>맑은 고딕</vt:lpstr>
      <vt:lpstr>Arial</vt:lpstr>
      <vt:lpstr>Office 테마</vt:lpstr>
      <vt:lpstr>포장기 셸 개체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holee9 holee9</cp:lastModifiedBy>
  <cp:revision>128</cp:revision>
  <cp:lastPrinted>2023-03-30T02:18:31Z</cp:lastPrinted>
  <dcterms:created xsi:type="dcterms:W3CDTF">2023-03-30T01:29:13Z</dcterms:created>
  <dcterms:modified xsi:type="dcterms:W3CDTF">2026-03-10T04:07:22Z</dcterms:modified>
</cp:coreProperties>
</file>